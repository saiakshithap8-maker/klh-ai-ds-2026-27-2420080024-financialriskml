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4"/>
  </p:sldMasterIdLst>
  <p:notesMasterIdLst>
    <p:notesMasterId r:id="rId19"/>
  </p:notesMasterIdLst>
  <p:sldIdLst>
    <p:sldId id="530" r:id="rId5"/>
    <p:sldId id="531" r:id="rId6"/>
    <p:sldId id="533" r:id="rId7"/>
    <p:sldId id="534" r:id="rId8"/>
    <p:sldId id="535" r:id="rId9"/>
    <p:sldId id="536" r:id="rId10"/>
    <p:sldId id="548" r:id="rId11"/>
    <p:sldId id="551" r:id="rId12"/>
    <p:sldId id="552" r:id="rId13"/>
    <p:sldId id="550" r:id="rId14"/>
    <p:sldId id="538" r:id="rId15"/>
    <p:sldId id="539" r:id="rId16"/>
    <p:sldId id="549" r:id="rId17"/>
    <p:sldId id="54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22F3"/>
    <a:srgbClr val="8822EE"/>
    <a:srgbClr val="F01688"/>
    <a:srgbClr val="2F21F3"/>
    <a:srgbClr val="FEB52B"/>
    <a:srgbClr val="F01689"/>
    <a:srgbClr val="6F22E3"/>
    <a:srgbClr val="E218A3"/>
    <a:srgbClr val="BA20DB"/>
    <a:srgbClr val="6A2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422"/>
  </p:normalViewPr>
  <p:slideViewPr>
    <p:cSldViewPr snapToGrid="0">
      <p:cViewPr varScale="1">
        <p:scale>
          <a:sx n="70" d="100"/>
          <a:sy n="70" d="100"/>
        </p:scale>
        <p:origin x="4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342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52957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73238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2791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95232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15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37014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368857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64112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99794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67693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19401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109595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8143493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897056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63112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017844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180574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670685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82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844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247173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448991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421173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5481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065227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97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746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5DACF-320D-E61F-A970-EA4056B86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40BB4-45BE-99F5-1686-775E47F64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84E60-7F35-F4A1-B070-9E2A9009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CAB79-DADF-F05D-D924-750807FA0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0C3D8-D0DE-51C3-A46D-B7281743C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9297A-F173-4879-BD60-C553BA3BFE2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2A1CA28C-4D92-4000-037B-01AD42F089E7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FB7EEB02-44AB-992A-A8F4-B76A59DAA995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1D62413D-59B1-73E0-F84D-80890C845569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F264C942-7420-7E0D-7011-005DC35EE48B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D7F92B-55BD-676D-88FE-9EA303D7A1CA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603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BB6EE24-86C3-4704-A860-59AFF647855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D7FE8E-E195-8976-96C9-CA1B72968E19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10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  <p:sldLayoutId id="2147483745" r:id="rId28"/>
    <p:sldLayoutId id="2147483669" r:id="rId29"/>
    <p:sldLayoutId id="2147483666" r:id="rId30"/>
    <p:sldLayoutId id="2147483667" r:id="rId31"/>
  </p:sldLayoutIdLs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  <p15:guide id="11" orient="horz" pos="2160" userDrawn="1">
          <p15:clr>
            <a:srgbClr val="A4A3A4"/>
          </p15:clr>
        </p15:guide>
        <p15:guide id="12" pos="3840" userDrawn="1">
          <p15:clr>
            <a:srgbClr val="A4A3A4"/>
          </p15:clr>
        </p15:guide>
        <p15:guide id="13" pos="240" userDrawn="1">
          <p15:clr>
            <a:srgbClr val="547EBF"/>
          </p15:clr>
        </p15:guide>
        <p15:guide id="14" orient="horz" pos="240" userDrawn="1">
          <p15:clr>
            <a:srgbClr val="547EBF"/>
          </p15:clr>
        </p15:guide>
        <p15:guide id="15" pos="7440" userDrawn="1">
          <p15:clr>
            <a:srgbClr val="547EBF"/>
          </p15:clr>
        </p15:guide>
        <p15:guide id="16" orient="horz" pos="4080" userDrawn="1">
          <p15:clr>
            <a:srgbClr val="547EBF"/>
          </p15:clr>
        </p15:guide>
        <p15:guide id="17" pos="3960" userDrawn="1">
          <p15:clr>
            <a:srgbClr val="547EBF"/>
          </p15:clr>
        </p15:guide>
        <p15:guide id="18" pos="3720" userDrawn="1">
          <p15:clr>
            <a:srgbClr val="547EBF"/>
          </p15:clr>
        </p15:guide>
        <p15:guide id="19" pos="2112" userDrawn="1">
          <p15:clr>
            <a:srgbClr val="547EBF"/>
          </p15:clr>
        </p15:guide>
        <p15:guide id="20" pos="1848" userDrawn="1">
          <p15:clr>
            <a:srgbClr val="547EBF"/>
          </p15:clr>
        </p15:guide>
        <p15:guide id="21" pos="5568" userDrawn="1">
          <p15:clr>
            <a:srgbClr val="547EBF"/>
          </p15:clr>
        </p15:guide>
        <p15:guide id="22" pos="5832" userDrawn="1">
          <p15:clr>
            <a:srgbClr val="547EBF"/>
          </p15:clr>
        </p15:guide>
        <p15:guide id="23" pos="4968" userDrawn="1">
          <p15:clr>
            <a:srgbClr val="9FCC3B"/>
          </p15:clr>
        </p15:guide>
        <p15:guide id="24" pos="5208" userDrawn="1">
          <p15:clr>
            <a:srgbClr val="9FCC3B"/>
          </p15:clr>
        </p15:guide>
        <p15:guide id="25" pos="2712" userDrawn="1">
          <p15:clr>
            <a:srgbClr val="9FCC3B"/>
          </p15:clr>
        </p15:guide>
        <p15:guide id="2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3346" y="2585392"/>
            <a:ext cx="6831453" cy="1687215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latin typeface="Century" panose="02040604050505020304" pitchFamily="18" charset="0"/>
              </a:rPr>
              <a:t>Data Analytics and Visualization</a:t>
            </a:r>
            <a:br>
              <a:rPr lang="en-US" sz="3600" dirty="0">
                <a:latin typeface="Century" panose="02040604050505020304" pitchFamily="18" charset="0"/>
              </a:rPr>
            </a:br>
            <a:r>
              <a:rPr lang="en-US" sz="3200" dirty="0">
                <a:latin typeface="Century" panose="02040604050505020304" pitchFamily="18" charset="0"/>
              </a:rPr>
              <a:t>(</a:t>
            </a:r>
            <a:r>
              <a:rPr lang="en-US" sz="2400" dirty="0">
                <a:latin typeface="Century" panose="02040604050505020304" pitchFamily="18" charset="0"/>
              </a:rPr>
              <a:t>24DSB3101)</a:t>
            </a:r>
            <a:br>
              <a:rPr lang="en-US" sz="2400" dirty="0">
                <a:latin typeface="Century" panose="02040604050505020304" pitchFamily="18" charset="0"/>
              </a:rPr>
            </a:br>
            <a:br>
              <a:rPr lang="en-IN" sz="3200" b="0" cap="none" dirty="0">
                <a:latin typeface="Century" panose="02040604050505020304" pitchFamily="18" charset="0"/>
              </a:rPr>
            </a:br>
            <a:r>
              <a:rPr lang="en-IN" sz="2900" b="0" cap="none" dirty="0">
                <a:latin typeface="Century" panose="02040604050505020304" pitchFamily="18" charset="0"/>
              </a:rPr>
              <a:t>An Explainable Machine Learning Framework For Predictive Financial Risk Assessment And Early Warning</a:t>
            </a:r>
            <a:br>
              <a:rPr lang="en-IN" sz="3200" b="0" cap="none" dirty="0">
                <a:latin typeface="Century" panose="02040604050505020304" pitchFamily="18" charset="0"/>
              </a:rPr>
            </a:br>
            <a:br>
              <a:rPr lang="en-IN" sz="3200" b="0" cap="none" dirty="0">
                <a:latin typeface="Century" panose="02040604050505020304" pitchFamily="18" charset="0"/>
              </a:rPr>
            </a:br>
            <a:r>
              <a:rPr lang="en-IN" sz="3200" b="0" cap="none" dirty="0">
                <a:latin typeface="Century" panose="02040604050505020304" pitchFamily="18" charset="0"/>
              </a:rPr>
              <a:t>	</a:t>
            </a:r>
            <a:br>
              <a:rPr lang="en-IN" sz="3200" b="0" cap="none" dirty="0">
                <a:latin typeface="Century" panose="02040604050505020304" pitchFamily="18" charset="0"/>
              </a:rPr>
            </a:br>
            <a:endParaRPr lang="en-US" sz="3200" cap="none" dirty="0">
              <a:latin typeface="Century" panose="020406040505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A4B6E-293B-8C01-8C88-A5E8E7D3D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896" y="97766"/>
            <a:ext cx="1249788" cy="12558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9B1300-B098-869B-4863-AECA979EB32D}"/>
              </a:ext>
            </a:extLst>
          </p:cNvPr>
          <p:cNvSpPr txBox="1"/>
          <p:nvPr/>
        </p:nvSpPr>
        <p:spPr>
          <a:xfrm>
            <a:off x="2263346" y="3404611"/>
            <a:ext cx="60343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FF0000"/>
                </a:solidFill>
                <a:latin typeface="Century" panose="02040604050505020304" pitchFamily="18" charset="0"/>
              </a:rPr>
              <a:t>Under the Esteemed guidance of</a:t>
            </a:r>
          </a:p>
          <a:p>
            <a:pPr algn="ctr"/>
            <a:endParaRPr lang="en-US" dirty="0">
              <a:latin typeface="Century" panose="02040604050505020304" pitchFamily="18" charset="0"/>
            </a:endParaRPr>
          </a:p>
          <a:p>
            <a:pPr algn="ctr"/>
            <a:r>
              <a:rPr lang="en-US" dirty="0">
                <a:latin typeface="Century" panose="02040604050505020304" pitchFamily="18" charset="0"/>
              </a:rPr>
              <a:t>Dr K. Swapnika</a:t>
            </a:r>
          </a:p>
          <a:p>
            <a:pPr algn="ctr"/>
            <a:endParaRPr lang="en-US" dirty="0">
              <a:latin typeface="Century" panose="02040604050505020304" pitchFamily="18" charset="0"/>
            </a:endParaRPr>
          </a:p>
          <a:p>
            <a:pPr algn="ctr"/>
            <a:r>
              <a:rPr lang="en-US" dirty="0">
                <a:solidFill>
                  <a:srgbClr val="00B0F0"/>
                </a:solidFill>
                <a:latin typeface="Century" panose="02040604050505020304" pitchFamily="18" charset="0"/>
              </a:rPr>
              <a:t>Assistant Professor</a:t>
            </a:r>
          </a:p>
          <a:p>
            <a:pPr algn="ctr"/>
            <a:endParaRPr lang="en-US" dirty="0">
              <a:latin typeface="Century" panose="02040604050505020304" pitchFamily="18" charset="0"/>
            </a:endParaRPr>
          </a:p>
          <a:p>
            <a:pPr algn="ctr"/>
            <a:r>
              <a:rPr lang="en-US" dirty="0">
                <a:solidFill>
                  <a:srgbClr val="0070C0"/>
                </a:solidFill>
                <a:latin typeface="Century" panose="02040604050505020304" pitchFamily="18" charset="0"/>
              </a:rPr>
              <a:t>Department Of Computer Science and Engineering</a:t>
            </a:r>
            <a:endParaRPr lang="en-IN" dirty="0">
              <a:solidFill>
                <a:srgbClr val="0070C0"/>
              </a:solidFill>
              <a:latin typeface="Century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C53EB-4A72-A987-198B-D759DF786E58}"/>
              </a:ext>
            </a:extLst>
          </p:cNvPr>
          <p:cNvSpPr txBox="1"/>
          <p:nvPr/>
        </p:nvSpPr>
        <p:spPr>
          <a:xfrm>
            <a:off x="8460325" y="4062354"/>
            <a:ext cx="3608058" cy="2536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Submitted by: Batch 8</a:t>
            </a:r>
          </a:p>
          <a:p>
            <a:pPr algn="ctr"/>
            <a:endParaRPr lang="en-US" dirty="0">
              <a:latin typeface="Century" panose="02040604050505020304" pitchFamily="18" charset="0"/>
            </a:endParaRPr>
          </a:p>
          <a:p>
            <a:r>
              <a:rPr lang="en-US" dirty="0">
                <a:latin typeface="Century" panose="02040604050505020304" pitchFamily="18" charset="0"/>
              </a:rPr>
              <a:t>Team Members: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" panose="02040604050505020304" pitchFamily="18" charset="0"/>
              </a:rPr>
              <a:t>2420080024 – P. Sai Akshitha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" panose="02040604050505020304" pitchFamily="18" charset="0"/>
              </a:rPr>
              <a:t>2420080065 – K. Nithya Sri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" panose="02040604050505020304" pitchFamily="18" charset="0"/>
              </a:rPr>
              <a:t>2420080100 – S. </a:t>
            </a:r>
            <a:r>
              <a:rPr lang="en-US" dirty="0" err="1">
                <a:latin typeface="Century" panose="02040604050505020304" pitchFamily="18" charset="0"/>
              </a:rPr>
              <a:t>Zuvaria</a:t>
            </a:r>
            <a:endParaRPr lang="en-US" dirty="0">
              <a:latin typeface="Century" panose="020406040505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entury" panose="02040604050505020304" pitchFamily="18" charset="0"/>
              </a:rPr>
              <a:t>2420090076 – S. Sushmita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25" y="164881"/>
            <a:ext cx="8878824" cy="7132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Century" panose="02040604050505020304" pitchFamily="18" charset="0"/>
              </a:rPr>
              <a:t>Contents</a:t>
            </a:r>
            <a:endParaRPr lang="en-US" sz="3200" b="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305" y="1032983"/>
            <a:ext cx="6422136" cy="4946904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Introduction / Abstract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Problem Statement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Project Objectives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Literature Survey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Project flow diagram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Research Gap Identification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Novelty</a:t>
            </a:r>
            <a:endParaRPr lang="en-IN" sz="1800" dirty="0">
              <a:latin typeface="Century" panose="020406040505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Innovation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Feasibility &amp; Project Plan </a:t>
            </a:r>
          </a:p>
          <a:p>
            <a:pPr marL="0" indent="0" algn="l">
              <a:lnSpc>
                <a:spcPct val="150000"/>
              </a:lnSpc>
              <a:buClr>
                <a:schemeClr val="accent6"/>
              </a:buClr>
              <a:buNone/>
            </a:pPr>
            <a:endParaRPr lang="en-US" sz="1800" dirty="0">
              <a:solidFill>
                <a:schemeClr val="bg1"/>
              </a:solidFill>
              <a:latin typeface="Century" panose="02040604050505020304" pitchFamily="18" charset="0"/>
              <a:cs typeface="Segoe UI Light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CFEB5E-0B36-3A9B-A3DC-C4AB05C3D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212" y="0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98" y="388620"/>
            <a:ext cx="6803136" cy="59436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48BDB-DEEB-F5CD-7DFB-E8F4F6068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65" y="1135179"/>
            <a:ext cx="7431024" cy="506577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Financial institutions handle large amounts of customer, credit, loan, and transaction data. Traditional risk assessment methods may struggle to identify complex patterns within such data.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Machine learning can analyze historical financial information and identify patterns associated with financial risk. In this project, different ML models will be compared to classify customers into </a:t>
            </a:r>
            <a:r>
              <a:rPr lang="en-IN" sz="1800" b="1" dirty="0">
                <a:latin typeface="Century" panose="02040604050505020304" pitchFamily="18" charset="0"/>
              </a:rPr>
              <a:t>Low, Medium, and High-Risk categories</a:t>
            </a:r>
            <a:r>
              <a:rPr lang="en-IN" sz="1800" dirty="0">
                <a:latin typeface="Century" panose="020406040505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The project also incorporates </a:t>
            </a:r>
            <a:r>
              <a:rPr lang="en-IN" sz="1800" b="1" dirty="0">
                <a:latin typeface="Century" panose="02040604050505020304" pitchFamily="18" charset="0"/>
              </a:rPr>
              <a:t>Explainable AI (XAI)</a:t>
            </a:r>
            <a:r>
              <a:rPr lang="en-IN" sz="1800" dirty="0">
                <a:latin typeface="Century" panose="02040604050505020304" pitchFamily="18" charset="0"/>
              </a:rPr>
              <a:t> to explain why a particular customer is classified as risky.</a:t>
            </a:r>
          </a:p>
          <a:p>
            <a:endParaRPr lang="en-IN" sz="1800" dirty="0">
              <a:latin typeface="Century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8B7E1-890A-70A7-9FB2-BE06B165D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245" y="25853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241080"/>
            <a:ext cx="6422136" cy="694944"/>
          </a:xfrm>
        </p:spPr>
        <p:txBody>
          <a:bodyPr/>
          <a:lstStyle/>
          <a:p>
            <a:r>
              <a:rPr lang="en-IN" sz="3200" dirty="0">
                <a:latin typeface="Century" panose="02040604050505020304" pitchFamily="18" charset="0"/>
              </a:rPr>
              <a:t>Problem Statement</a:t>
            </a:r>
            <a:endParaRPr lang="en-US" sz="3200" b="0" dirty="0">
              <a:latin typeface="Century" panose="020406040505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98" y="997386"/>
            <a:ext cx="7281672" cy="508406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Traditional financial risk assessment methods may fail to capture complex and changing patterns in financial data. Although machine learning improves prediction, many models behave like </a:t>
            </a:r>
            <a:r>
              <a:rPr lang="en-IN" sz="1800" b="1" dirty="0">
                <a:latin typeface="Century" panose="02040604050505020304" pitchFamily="18" charset="0"/>
              </a:rPr>
              <a:t>black boxes</a:t>
            </a:r>
            <a:r>
              <a:rPr lang="en-IN" sz="1800" dirty="0">
                <a:latin typeface="Century" panose="02040604050505020304" pitchFamily="18" charset="0"/>
              </a:rPr>
              <a:t>, making their decisions difficult for financial stakeholders to understand.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The proposed system addresses this by providing: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Century" panose="02040604050505020304" pitchFamily="18" charset="0"/>
              </a:rPr>
              <a:t>Risk Prediction + Risk Score + Explainability + Early Warning</a:t>
            </a:r>
            <a:endParaRPr lang="en-IN" sz="1800" dirty="0">
              <a:latin typeface="Century" panose="020406040505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Century" panose="02040604050505020304" pitchFamily="18" charset="0"/>
              </a:rPr>
              <a:t>It aims to identify potentially high-risk cases and explain the major factors responsible for the prediction.</a:t>
            </a:r>
          </a:p>
          <a:p>
            <a:pPr marL="0" indent="0">
              <a:buNone/>
            </a:pPr>
            <a:endParaRPr lang="en-US" sz="1800" dirty="0">
              <a:latin typeface="Century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D39F00-0A81-AEC3-E7C0-B7E1D740A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246" y="12940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FE8-2F9C-9C12-4EB3-9742EA91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80" y="230533"/>
            <a:ext cx="10881360" cy="870712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Century" panose="02040604050505020304" pitchFamily="18" charset="0"/>
              </a:rPr>
              <a:t>Objectives</a:t>
            </a:r>
            <a:endParaRPr lang="en-US" sz="3200" spc="600" dirty="0">
              <a:ln w="28575">
                <a:noFill/>
                <a:prstDash val="solid"/>
              </a:ln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E7D7ED-6594-2071-2187-C32E88FA9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80" y="1171678"/>
            <a:ext cx="10332720" cy="4666488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200000"/>
              </a:lnSpc>
            </a:pPr>
            <a:r>
              <a:rPr lang="en-IN" sz="1800" dirty="0">
                <a:latin typeface="Century" panose="02040604050505020304" pitchFamily="18" charset="0"/>
              </a:rPr>
              <a:t>Develop financial-risk prediction models using </a:t>
            </a:r>
            <a:r>
              <a:rPr lang="en-IN" sz="1800" b="1" dirty="0">
                <a:latin typeface="Century" panose="02040604050505020304" pitchFamily="18" charset="0"/>
              </a:rPr>
              <a:t>Random Forest, XGBoost and </a:t>
            </a:r>
            <a:r>
              <a:rPr lang="en-IN" sz="1800" b="1" dirty="0" err="1">
                <a:latin typeface="Century" panose="02040604050505020304" pitchFamily="18" charset="0"/>
              </a:rPr>
              <a:t>CatBoost</a:t>
            </a:r>
            <a:endParaRPr lang="en-IN" sz="1800" dirty="0">
              <a:latin typeface="Century" panose="02040604050505020304" pitchFamily="18" charset="0"/>
            </a:endParaRPr>
          </a:p>
          <a:p>
            <a:pPr lvl="0" algn="just">
              <a:lnSpc>
                <a:spcPct val="200000"/>
              </a:lnSpc>
            </a:pPr>
            <a:r>
              <a:rPr lang="en-IN" sz="1800" dirty="0">
                <a:latin typeface="Century" panose="02040604050505020304" pitchFamily="18" charset="0"/>
              </a:rPr>
              <a:t>Handle class imbalance using </a:t>
            </a:r>
            <a:r>
              <a:rPr lang="en-IN" sz="1800" b="1" dirty="0">
                <a:latin typeface="Century" panose="02040604050505020304" pitchFamily="18" charset="0"/>
              </a:rPr>
              <a:t>SMOTE / Class Weights</a:t>
            </a:r>
            <a:r>
              <a:rPr lang="en-IN" sz="1800" dirty="0">
                <a:latin typeface="Century" panose="02040604050505020304" pitchFamily="18" charset="0"/>
              </a:rPr>
              <a:t>. </a:t>
            </a:r>
          </a:p>
          <a:p>
            <a:pPr lvl="0" algn="just">
              <a:lnSpc>
                <a:spcPct val="200000"/>
              </a:lnSpc>
            </a:pPr>
            <a:r>
              <a:rPr lang="en-IN" sz="1800" dirty="0">
                <a:latin typeface="Century" panose="02040604050505020304" pitchFamily="18" charset="0"/>
              </a:rPr>
              <a:t>Perform </a:t>
            </a:r>
            <a:r>
              <a:rPr lang="en-IN" sz="1800" b="1" dirty="0">
                <a:latin typeface="Century" panose="02040604050505020304" pitchFamily="18" charset="0"/>
              </a:rPr>
              <a:t>feature engineering and feature selection</a:t>
            </a:r>
            <a:r>
              <a:rPr lang="en-IN" sz="1800" dirty="0">
                <a:latin typeface="Century" panose="02040604050505020304" pitchFamily="18" charset="0"/>
              </a:rPr>
              <a:t>. </a:t>
            </a:r>
          </a:p>
          <a:p>
            <a:pPr lvl="0" algn="just">
              <a:lnSpc>
                <a:spcPct val="200000"/>
              </a:lnSpc>
            </a:pPr>
            <a:r>
              <a:rPr lang="en-IN" sz="1800" dirty="0">
                <a:latin typeface="Century" panose="02040604050505020304" pitchFamily="18" charset="0"/>
              </a:rPr>
              <a:t>Apply </a:t>
            </a:r>
            <a:r>
              <a:rPr lang="en-IN" sz="1800" b="1" dirty="0">
                <a:latin typeface="Century" panose="02040604050505020304" pitchFamily="18" charset="0"/>
              </a:rPr>
              <a:t>SHAP</a:t>
            </a:r>
            <a:r>
              <a:rPr lang="en-IN" sz="1800" dirty="0">
                <a:latin typeface="Century" panose="02040604050505020304" pitchFamily="18" charset="0"/>
              </a:rPr>
              <a:t> to explain individual risk predictions. </a:t>
            </a:r>
          </a:p>
          <a:p>
            <a:pPr lvl="0" algn="just">
              <a:lnSpc>
                <a:spcPct val="200000"/>
              </a:lnSpc>
            </a:pPr>
            <a:r>
              <a:rPr lang="en-IN" sz="1800" dirty="0">
                <a:latin typeface="Century" panose="02040604050505020304" pitchFamily="18" charset="0"/>
              </a:rPr>
              <a:t>Generate a calibrated </a:t>
            </a:r>
            <a:r>
              <a:rPr lang="en-IN" sz="1800" b="1" dirty="0">
                <a:latin typeface="Century" panose="02040604050505020304" pitchFamily="18" charset="0"/>
              </a:rPr>
              <a:t>financial risk score and risk category</a:t>
            </a:r>
            <a:r>
              <a:rPr lang="en-IN" sz="1800" dirty="0">
                <a:latin typeface="Century" panose="02040604050505020304" pitchFamily="18" charset="0"/>
              </a:rPr>
              <a:t>. </a:t>
            </a:r>
          </a:p>
          <a:p>
            <a:pPr lvl="0" algn="just">
              <a:lnSpc>
                <a:spcPct val="200000"/>
              </a:lnSpc>
            </a:pPr>
            <a:r>
              <a:rPr lang="en-IN" sz="1800" dirty="0">
                <a:latin typeface="Century" panose="02040604050505020304" pitchFamily="18" charset="0"/>
              </a:rPr>
              <a:t>Provide an </a:t>
            </a:r>
            <a:r>
              <a:rPr lang="en-IN" sz="1800" b="1" dirty="0">
                <a:latin typeface="Century" panose="02040604050505020304" pitchFamily="18" charset="0"/>
              </a:rPr>
              <a:t>early-warning mechanism</a:t>
            </a:r>
            <a:r>
              <a:rPr lang="en-IN" sz="1800" dirty="0">
                <a:latin typeface="Century" panose="02040604050505020304" pitchFamily="18" charset="0"/>
              </a:rPr>
              <a:t> for potentially high-risk cases. </a:t>
            </a:r>
          </a:p>
          <a:p>
            <a:pPr lvl="0" algn="just">
              <a:lnSpc>
                <a:spcPct val="200000"/>
              </a:lnSpc>
            </a:pPr>
            <a:r>
              <a:rPr lang="en-IN" sz="1800" dirty="0">
                <a:latin typeface="Century" panose="02040604050505020304" pitchFamily="18" charset="0"/>
              </a:rPr>
              <a:t>Build an integrated </a:t>
            </a:r>
            <a:r>
              <a:rPr lang="en-IN" sz="1800" b="1" dirty="0">
                <a:latin typeface="Century" panose="02040604050505020304" pitchFamily="18" charset="0"/>
              </a:rPr>
              <a:t>dashboard-based decision-support system</a:t>
            </a:r>
            <a:r>
              <a:rPr lang="en-IN" sz="2000" dirty="0">
                <a:latin typeface="Century" panose="02040604050505020304" pitchFamily="18" charset="0"/>
              </a:rPr>
              <a:t>.</a:t>
            </a:r>
          </a:p>
          <a:p>
            <a:pPr algn="just"/>
            <a:endParaRPr lang="en-IN" sz="2000" dirty="0">
              <a:latin typeface="Century" panose="020406040505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3252A1-51AE-36E1-CE3B-D88466BA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318B-D756-6C57-8657-96C83632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428B58-57A2-5D7D-B7AE-BB73F78CB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997" y="46356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65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14" y="135619"/>
            <a:ext cx="9994392" cy="690880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latin typeface="Century" panose="02040604050505020304" pitchFamily="18" charset="0"/>
              </a:rPr>
              <a:t>Literature Survey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8CBA043-F75F-4270-0F37-F39811CF83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42638"/>
              </p:ext>
            </p:extLst>
          </p:nvPr>
        </p:nvGraphicFramePr>
        <p:xfrm>
          <a:off x="47965" y="865677"/>
          <a:ext cx="11219687" cy="589588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34777">
                  <a:extLst>
                    <a:ext uri="{9D8B030D-6E8A-4147-A177-3AD203B41FA5}">
                      <a16:colId xmlns:a16="http://schemas.microsoft.com/office/drawing/2014/main" val="1259568153"/>
                    </a:ext>
                  </a:extLst>
                </a:gridCol>
                <a:gridCol w="1947682">
                  <a:extLst>
                    <a:ext uri="{9D8B030D-6E8A-4147-A177-3AD203B41FA5}">
                      <a16:colId xmlns:a16="http://schemas.microsoft.com/office/drawing/2014/main" val="617623866"/>
                    </a:ext>
                  </a:extLst>
                </a:gridCol>
                <a:gridCol w="2184307">
                  <a:extLst>
                    <a:ext uri="{9D8B030D-6E8A-4147-A177-3AD203B41FA5}">
                      <a16:colId xmlns:a16="http://schemas.microsoft.com/office/drawing/2014/main" val="2514321087"/>
                    </a:ext>
                  </a:extLst>
                </a:gridCol>
                <a:gridCol w="2184307">
                  <a:extLst>
                    <a:ext uri="{9D8B030D-6E8A-4147-A177-3AD203B41FA5}">
                      <a16:colId xmlns:a16="http://schemas.microsoft.com/office/drawing/2014/main" val="685407395"/>
                    </a:ext>
                  </a:extLst>
                </a:gridCol>
                <a:gridCol w="2184307">
                  <a:extLst>
                    <a:ext uri="{9D8B030D-6E8A-4147-A177-3AD203B41FA5}">
                      <a16:colId xmlns:a16="http://schemas.microsoft.com/office/drawing/2014/main" val="3341407174"/>
                    </a:ext>
                  </a:extLst>
                </a:gridCol>
                <a:gridCol w="2184307">
                  <a:extLst>
                    <a:ext uri="{9D8B030D-6E8A-4147-A177-3AD203B41FA5}">
                      <a16:colId xmlns:a16="http://schemas.microsoft.com/office/drawing/2014/main" val="3075485566"/>
                    </a:ext>
                  </a:extLst>
                </a:gridCol>
              </a:tblGrid>
              <a:tr h="298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No.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Year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Research Paper / Study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Technique / Framework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Key Contribution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Research Gap</a:t>
                      </a:r>
                    </a:p>
                  </a:txBody>
                  <a:tcPr marL="44500" marR="44500" marT="22250" marB="22250" anchor="ctr"/>
                </a:tc>
                <a:extLst>
                  <a:ext uri="{0D108BD9-81ED-4DB2-BD59-A6C34878D82A}">
                    <a16:rowId xmlns:a16="http://schemas.microsoft.com/office/drawing/2014/main" val="2242498971"/>
                  </a:ext>
                </a:extLst>
              </a:tr>
              <a:tr h="1067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1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2026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Enterprise Financial Risk Prediction Model Based on Machine Learning Algorithm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SVM, ANN, Logistic Regression / FinRiskNet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Uses multiple classifiers for enterprise financial-risk prediction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Mainly prediction-focused; explainability and integrated early warning can be improved</a:t>
                      </a:r>
                    </a:p>
                  </a:txBody>
                  <a:tcPr marL="44500" marR="44500" marT="22250" marB="22250" anchor="ctr"/>
                </a:tc>
                <a:extLst>
                  <a:ext uri="{0D108BD9-81ED-4DB2-BD59-A6C34878D82A}">
                    <a16:rowId xmlns:a16="http://schemas.microsoft.com/office/drawing/2014/main" val="1204069925"/>
                  </a:ext>
                </a:extLst>
              </a:tr>
              <a:tr h="1066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2026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Application of Generative AI in Corporate Financial Risk Early Warning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Multimodal Fusion, GNN, Temporal GAN, Interpretable Generation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Combines multiple data sources and generates risk reports/recommendations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Complex architecture and high computational requirements</a:t>
                      </a:r>
                    </a:p>
                  </a:txBody>
                  <a:tcPr marL="44500" marR="44500" marT="22250" marB="22250" anchor="ctr"/>
                </a:tc>
                <a:extLst>
                  <a:ext uri="{0D108BD9-81ED-4DB2-BD59-A6C34878D82A}">
                    <a16:rowId xmlns:a16="http://schemas.microsoft.com/office/drawing/2014/main" val="2746919021"/>
                  </a:ext>
                </a:extLst>
              </a:tr>
              <a:tr h="1195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3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2025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Enterprise Financial Risk Prediction Model Based on Modified Machine Learning Classifier Algorithms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Modified ML Classifiers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Uses internal and global financial factors for prediction and early warning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Focuses more on accuracy than transparent decision support</a:t>
                      </a:r>
                    </a:p>
                  </a:txBody>
                  <a:tcPr marL="44500" marR="44500" marT="22250" marB="22250" anchor="ctr"/>
                </a:tc>
                <a:extLst>
                  <a:ext uri="{0D108BD9-81ED-4DB2-BD59-A6C34878D82A}">
                    <a16:rowId xmlns:a16="http://schemas.microsoft.com/office/drawing/2014/main" val="151884045"/>
                  </a:ext>
                </a:extLst>
              </a:tr>
              <a:tr h="1066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4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2025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Enterprise Financial Risk Prediction and Intelligent Early Warning Model Based on Deep Learning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BiLSTM + Attention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Captures temporal financial patterns and provides early warnings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Deep-learning models are difficult to interpret and require sufficient temporal data</a:t>
                      </a:r>
                    </a:p>
                  </a:txBody>
                  <a:tcPr marL="44500" marR="44500" marT="22250" marB="22250" anchor="ctr"/>
                </a:tc>
                <a:extLst>
                  <a:ext uri="{0D108BD9-81ED-4DB2-BD59-A6C34878D82A}">
                    <a16:rowId xmlns:a16="http://schemas.microsoft.com/office/drawing/2014/main" val="2269070252"/>
                  </a:ext>
                </a:extLst>
              </a:tr>
              <a:tr h="1067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5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2025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Enhancing Credit Risk Prediction through an Ensemble of Explainable Model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XGBoost + Multiple Explanation Methods + K-Means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Combines ensemble prediction with explainability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Broader financial-risk scoring, risk trajectory and early-warning mechanisms can be explored</a:t>
                      </a:r>
                    </a:p>
                  </a:txBody>
                  <a:tcPr marL="44500" marR="44500" marT="22250" marB="22250" anchor="ctr"/>
                </a:tc>
                <a:extLst>
                  <a:ext uri="{0D108BD9-81ED-4DB2-BD59-A6C34878D82A}">
                    <a16:rowId xmlns:a16="http://schemas.microsoft.com/office/drawing/2014/main" val="412760382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3D8136-223C-CF9D-2E02-BD17D716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247" y="27397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8BAF6-0667-EC96-274F-F9440DB7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8D84A-A4C8-E38C-F6DE-6C85F666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338" y="79711"/>
            <a:ext cx="9994392" cy="690880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latin typeface="Century" panose="02040604050505020304" pitchFamily="18" charset="0"/>
              </a:rPr>
              <a:t>Literature Survey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CEF1CC4-897B-0E9A-13D4-A8F85EEE9A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401992"/>
              </p:ext>
            </p:extLst>
          </p:nvPr>
        </p:nvGraphicFramePr>
        <p:xfrm>
          <a:off x="29174" y="917991"/>
          <a:ext cx="11283697" cy="584356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76802">
                  <a:extLst>
                    <a:ext uri="{9D8B030D-6E8A-4147-A177-3AD203B41FA5}">
                      <a16:colId xmlns:a16="http://schemas.microsoft.com/office/drawing/2014/main" val="1259568153"/>
                    </a:ext>
                  </a:extLst>
                </a:gridCol>
                <a:gridCol w="1632839">
                  <a:extLst>
                    <a:ext uri="{9D8B030D-6E8A-4147-A177-3AD203B41FA5}">
                      <a16:colId xmlns:a16="http://schemas.microsoft.com/office/drawing/2014/main" val="617623866"/>
                    </a:ext>
                  </a:extLst>
                </a:gridCol>
                <a:gridCol w="2359224">
                  <a:extLst>
                    <a:ext uri="{9D8B030D-6E8A-4147-A177-3AD203B41FA5}">
                      <a16:colId xmlns:a16="http://schemas.microsoft.com/office/drawing/2014/main" val="2514321087"/>
                    </a:ext>
                  </a:extLst>
                </a:gridCol>
                <a:gridCol w="2322003">
                  <a:extLst>
                    <a:ext uri="{9D8B030D-6E8A-4147-A177-3AD203B41FA5}">
                      <a16:colId xmlns:a16="http://schemas.microsoft.com/office/drawing/2014/main" val="685407395"/>
                    </a:ext>
                  </a:extLst>
                </a:gridCol>
                <a:gridCol w="2374178">
                  <a:extLst>
                    <a:ext uri="{9D8B030D-6E8A-4147-A177-3AD203B41FA5}">
                      <a16:colId xmlns:a16="http://schemas.microsoft.com/office/drawing/2014/main" val="3341407174"/>
                    </a:ext>
                  </a:extLst>
                </a:gridCol>
                <a:gridCol w="2018651">
                  <a:extLst>
                    <a:ext uri="{9D8B030D-6E8A-4147-A177-3AD203B41FA5}">
                      <a16:colId xmlns:a16="http://schemas.microsoft.com/office/drawing/2014/main" val="3075485566"/>
                    </a:ext>
                  </a:extLst>
                </a:gridCol>
              </a:tblGrid>
              <a:tr h="298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No.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Year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Research Paper / Study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Technique / Framework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Key Contribution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Research Gap</a:t>
                      </a:r>
                    </a:p>
                  </a:txBody>
                  <a:tcPr marL="44500" marR="44500" marT="22250" marB="22250" anchor="ctr"/>
                </a:tc>
                <a:extLst>
                  <a:ext uri="{0D108BD9-81ED-4DB2-BD59-A6C34878D82A}">
                    <a16:rowId xmlns:a16="http://schemas.microsoft.com/office/drawing/2014/main" val="2242498971"/>
                  </a:ext>
                </a:extLst>
              </a:tr>
              <a:tr h="106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6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2025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Systemic Financial Risk Prediction Based on Machine Learning: The Role of FinTech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ML + FinTech Indicators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Uses a FinTech index to improve the timeliness of systemic-risk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Focuses on systemic risk rather than customer/enterprise-level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069925"/>
                  </a:ext>
                </a:extLst>
              </a:tr>
              <a:tr h="1063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7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Graph-Based Inductive Learning for Credit Risk Prediction with Imbalance Mitigation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Graph-Based ML + Imbalance Mitigation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Addresses class imbalance and relational information in credit-risk predict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Requires complex relationship/graph data that may not always be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919021"/>
                  </a:ext>
                </a:extLst>
              </a:tr>
              <a:tr h="1192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8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2025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Sustainable Credit Risk Prediction: Applying Machine Learning for Responsible Lending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Feature Engineering + Ensemble ML + </a:t>
                      </a:r>
                      <a:r>
                        <a:rPr lang="en-IN" sz="1400" dirty="0" err="1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CatBoost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Applies ensemble ML to credit-risk prediction and responsible lending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Explainable early-warning integration remains an opportunity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 marL="44500" marR="44500" marT="22250" marB="22250" anchor="ctr"/>
                </a:tc>
                <a:extLst>
                  <a:ext uri="{0D108BD9-81ED-4DB2-BD59-A6C34878D82A}">
                    <a16:rowId xmlns:a16="http://schemas.microsoft.com/office/drawing/2014/main" val="151884045"/>
                  </a:ext>
                </a:extLst>
              </a:tr>
              <a:tr h="1155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9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2024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Prediction of Bank Credit Worthiness Through Credit Risk Analysis: An Explainable Machine Learning Study</a:t>
                      </a:r>
                      <a:endParaRPr lang="en-IN" sz="140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Explainable Machine Learning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Uses ML and XAI to predict bank creditworthiness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Can be extended toward broader risk scoring and early-warning mechanisms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 marL="44500" marR="44500" marT="22250" marB="22250" anchor="ctr"/>
                </a:tc>
                <a:extLst>
                  <a:ext uri="{0D108BD9-81ED-4DB2-BD59-A6C34878D82A}">
                    <a16:rowId xmlns:a16="http://schemas.microsoft.com/office/drawing/2014/main" val="2269070252"/>
                  </a:ext>
                </a:extLst>
              </a:tr>
              <a:tr h="106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10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2024</a:t>
                      </a: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Financial Risk Forewarning with an Interpretable Ensemble Learning Approach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Bagging + LightGBM + SHAP + MOPSO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Combines ensemble learning, optimization and SHAP for financial-distress warning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 marL="44500" marR="44500" marT="22250" marB="22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Century" panose="02040604050505020304" pitchFamily="18" charset="0"/>
                        </a:rPr>
                        <a:t>Primarily focused on listed-company financial distress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Century" panose="02040604050505020304" pitchFamily="18" charset="0"/>
                      </a:endParaRPr>
                    </a:p>
                  </a:txBody>
                  <a:tcPr marL="44500" marR="44500" marT="22250" marB="22250" anchor="ctr"/>
                </a:tc>
                <a:extLst>
                  <a:ext uri="{0D108BD9-81ED-4DB2-BD59-A6C34878D82A}">
                    <a16:rowId xmlns:a16="http://schemas.microsoft.com/office/drawing/2014/main" val="412760382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C3754-565E-A2B6-B763-448C691B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A30E0-5FCD-41D7-BCB3-EC41A06CF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038" y="79711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56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88C65-9A36-5D89-A85C-0289AA666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48920"/>
            <a:ext cx="10881360" cy="718868"/>
          </a:xfrm>
        </p:spPr>
        <p:txBody>
          <a:bodyPr>
            <a:normAutofit/>
          </a:bodyPr>
          <a:lstStyle/>
          <a:p>
            <a:r>
              <a:rPr lang="en-US" dirty="0">
                <a:latin typeface="Century" panose="02040604050505020304" pitchFamily="18" charset="0"/>
              </a:rPr>
              <a:t>Project Workflow</a:t>
            </a:r>
            <a:endParaRPr lang="en-IN" dirty="0">
              <a:latin typeface="Century" panose="020406040505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49C0968-65E3-0900-8B66-54B82178A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4008" y="824086"/>
            <a:ext cx="6745856" cy="587367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A87AC-9D60-2086-D0D6-5C4DA30C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82B0E-3DC7-4447-64B6-AC12B5122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E2E772-A198-1B5F-0D7E-592CEF271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805" y="161026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47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1647E-1C0A-EF60-2CA2-0E5236E5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C0D487F-9CD1-7D7E-DADC-A04D7462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060" y="0"/>
            <a:ext cx="8878824" cy="1069848"/>
          </a:xfrm>
        </p:spPr>
        <p:txBody>
          <a:bodyPr/>
          <a:lstStyle/>
          <a:p>
            <a:r>
              <a:rPr lang="en-IN" dirty="0">
                <a:latin typeface="Century" panose="02040604050505020304" pitchFamily="18" charset="0"/>
              </a:rPr>
              <a:t>Research Gap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B2CBA2C-D108-F42E-9767-F452BCDD4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060" y="1069848"/>
            <a:ext cx="9166313" cy="553447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b="1" dirty="0">
                <a:latin typeface="Century" panose="02040604050505020304" pitchFamily="18" charset="0"/>
              </a:rPr>
              <a:t>1</a:t>
            </a:r>
            <a:r>
              <a:rPr lang="en-IN" sz="1800" b="1" dirty="0">
                <a:latin typeface="Century" panose="02040604050505020304" pitchFamily="18" charset="0"/>
              </a:rPr>
              <a:t>. Fragmented Risk Management</a:t>
            </a:r>
            <a:br>
              <a:rPr lang="en-IN" sz="1800" dirty="0">
                <a:latin typeface="Century" panose="02040604050505020304" pitchFamily="18" charset="0"/>
              </a:rPr>
            </a:br>
            <a:r>
              <a:rPr lang="en-IN" sz="1800" dirty="0">
                <a:latin typeface="Century" panose="02040604050505020304" pitchFamily="18" charset="0"/>
              </a:rPr>
              <a:t>Existing research often concentrates on individual risk types rather than a flexible framework.</a:t>
            </a:r>
            <a:endParaRPr lang="en-IN" sz="1800" b="1" dirty="0">
              <a:latin typeface="Century" panose="020406040505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Century" panose="02040604050505020304" pitchFamily="18" charset="0"/>
              </a:rPr>
              <a:t>2. Prediction vs. Explainability</a:t>
            </a:r>
            <a:br>
              <a:rPr lang="en-IN" sz="1800" dirty="0">
                <a:latin typeface="Century" panose="02040604050505020304" pitchFamily="18" charset="0"/>
              </a:rPr>
            </a:br>
            <a:r>
              <a:rPr lang="en-IN" sz="1800" dirty="0">
                <a:latin typeface="Century" panose="02040604050505020304" pitchFamily="18" charset="0"/>
              </a:rPr>
              <a:t>High-performing models such as </a:t>
            </a:r>
            <a:r>
              <a:rPr lang="en-IN" sz="1800" dirty="0" err="1">
                <a:latin typeface="Century" panose="02040604050505020304" pitchFamily="18" charset="0"/>
              </a:rPr>
              <a:t>XGBoost</a:t>
            </a:r>
            <a:r>
              <a:rPr lang="en-IN" sz="1800" dirty="0">
                <a:latin typeface="Century" panose="02040604050505020304" pitchFamily="18" charset="0"/>
              </a:rPr>
              <a:t> can be difficult to interpret.</a:t>
            </a:r>
            <a:endParaRPr lang="en-IN" sz="1800" b="1" dirty="0">
              <a:latin typeface="Century" panose="020406040505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Century" panose="02040604050505020304" pitchFamily="18" charset="0"/>
              </a:rPr>
              <a:t>3. Limited Risk Scoring</a:t>
            </a:r>
            <a:br>
              <a:rPr lang="en-IN" sz="1800" dirty="0">
                <a:latin typeface="Century" panose="02040604050505020304" pitchFamily="18" charset="0"/>
              </a:rPr>
            </a:br>
            <a:r>
              <a:rPr lang="en-IN" sz="1800" dirty="0">
                <a:latin typeface="Century" panose="02040604050505020304" pitchFamily="18" charset="0"/>
              </a:rPr>
              <a:t>Many systems provide only binary predictions such as Default/Non-Default.</a:t>
            </a:r>
            <a:endParaRPr lang="en-IN" sz="1800" b="1" dirty="0">
              <a:latin typeface="Century" panose="020406040505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Century" panose="02040604050505020304" pitchFamily="18" charset="0"/>
              </a:rPr>
              <a:t>4. Limited Early Warning</a:t>
            </a:r>
            <a:br>
              <a:rPr lang="en-IN" sz="1800" dirty="0">
                <a:latin typeface="Century" panose="02040604050505020304" pitchFamily="18" charset="0"/>
              </a:rPr>
            </a:br>
            <a:r>
              <a:rPr lang="en-IN" sz="1800" dirty="0">
                <a:latin typeface="Century" panose="02040604050505020304" pitchFamily="18" charset="0"/>
              </a:rPr>
              <a:t>Prediction and continuous risk monitoring are often treated separately.</a:t>
            </a:r>
            <a:endParaRPr lang="en-IN" sz="1800" b="1" dirty="0">
              <a:latin typeface="Century" panose="020406040505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Century" panose="02040604050505020304" pitchFamily="18" charset="0"/>
              </a:rPr>
              <a:t>5. Class Imbalance</a:t>
            </a:r>
            <a:br>
              <a:rPr lang="en-IN" sz="1800" dirty="0">
                <a:latin typeface="Century" panose="02040604050505020304" pitchFamily="18" charset="0"/>
              </a:rPr>
            </a:br>
            <a:r>
              <a:rPr lang="en-IN" sz="1800" dirty="0">
                <a:latin typeface="Century" panose="02040604050505020304" pitchFamily="18" charset="0"/>
              </a:rPr>
              <a:t>High-risk/default cases are usually much fewer than low-risk cases.</a:t>
            </a:r>
            <a:endParaRPr lang="en-IN" sz="1800" b="1" dirty="0">
              <a:latin typeface="Century" panose="020406040505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Century" panose="02040604050505020304" pitchFamily="18" charset="0"/>
              </a:rPr>
              <a:t>6. Limited Decision Support</a:t>
            </a:r>
            <a:br>
              <a:rPr lang="en-IN" sz="1800" dirty="0">
                <a:latin typeface="Century" panose="02040604050505020304" pitchFamily="18" charset="0"/>
              </a:rPr>
            </a:br>
            <a:r>
              <a:rPr lang="en-IN" sz="1800" dirty="0">
                <a:latin typeface="Century" panose="02040604050505020304" pitchFamily="18" charset="0"/>
              </a:rPr>
              <a:t>Many systems do not combine:</a:t>
            </a:r>
            <a:endParaRPr lang="en-IN" sz="1800" b="1" dirty="0">
              <a:latin typeface="Century" panose="020406040505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Century" panose="02040604050505020304" pitchFamily="18" charset="0"/>
              </a:rPr>
              <a:t>7. Risk Score → Risk Level → Important Factors → Recommended Action</a:t>
            </a:r>
          </a:p>
          <a:p>
            <a:pPr>
              <a:buNone/>
            </a:pPr>
            <a:r>
              <a:rPr lang="en-IN" sz="1800" dirty="0">
                <a:latin typeface="Century" panose="02040604050505020304" pitchFamily="18" charset="0"/>
              </a:rPr>
              <a:t>These six gaps are specifically identified in your review document.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47DD0F8-3C56-9EDF-C383-6D430A0BC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6805" y="161026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89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3B343E1-B904-679F-3E95-4A46A7898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060" y="0"/>
            <a:ext cx="8878824" cy="1069848"/>
          </a:xfrm>
        </p:spPr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Novelty</a:t>
            </a:r>
            <a:endParaRPr lang="en-IN" dirty="0">
              <a:latin typeface="Century" panose="020406040505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54354C-2E74-A6C3-B50A-42CAC1931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049" y="1102110"/>
            <a:ext cx="8878824" cy="4653779"/>
          </a:xfrm>
        </p:spPr>
        <p:txBody>
          <a:bodyPr>
            <a:normAutofit/>
          </a:bodyPr>
          <a:lstStyle/>
          <a:p>
            <a:pPr lvl="0" algn="just"/>
            <a:r>
              <a:rPr lang="en-IN" sz="1800" b="1" dirty="0">
                <a:latin typeface="Century" panose="02040604050505020304" pitchFamily="18" charset="0"/>
              </a:rPr>
              <a:t>Explainable Risk Prediction:</a:t>
            </a:r>
            <a:r>
              <a:rPr lang="en-IN" sz="1800" dirty="0">
                <a:latin typeface="Century" panose="02040604050505020304" pitchFamily="18" charset="0"/>
              </a:rPr>
              <a:t> Integrates Explainable AI techniques such as </a:t>
            </a:r>
            <a:r>
              <a:rPr lang="en-IN" sz="1800" b="1" dirty="0">
                <a:latin typeface="Century" panose="02040604050505020304" pitchFamily="18" charset="0"/>
              </a:rPr>
              <a:t>SHAP/LIME</a:t>
            </a:r>
            <a:r>
              <a:rPr lang="en-IN" sz="1800" dirty="0">
                <a:latin typeface="Century" panose="02040604050505020304" pitchFamily="18" charset="0"/>
              </a:rPr>
              <a:t> with machine learning models to clearly identify the key factors contributing to an individual's or organization's financial risk. </a:t>
            </a:r>
          </a:p>
          <a:p>
            <a:pPr marL="0" lvl="0" indent="0" algn="just">
              <a:buNone/>
            </a:pPr>
            <a:endParaRPr lang="en-IN" sz="1800" dirty="0">
              <a:latin typeface="Century" panose="02040604050505020304" pitchFamily="18" charset="0"/>
            </a:endParaRPr>
          </a:p>
          <a:p>
            <a:pPr lvl="0" algn="just"/>
            <a:r>
              <a:rPr lang="en-IN" sz="1800" b="1" dirty="0">
                <a:latin typeface="Century" panose="02040604050505020304" pitchFamily="18" charset="0"/>
              </a:rPr>
              <a:t>Early Warning System:</a:t>
            </a:r>
            <a:r>
              <a:rPr lang="en-IN" sz="1800" dirty="0">
                <a:latin typeface="Century" panose="02040604050505020304" pitchFamily="18" charset="0"/>
              </a:rPr>
              <a:t> Develops a </a:t>
            </a:r>
            <a:r>
              <a:rPr lang="en-IN" sz="1800" b="1" dirty="0">
                <a:latin typeface="Century" panose="02040604050505020304" pitchFamily="18" charset="0"/>
              </a:rPr>
              <a:t>predictive early-warning mechanism</a:t>
            </a:r>
            <a:r>
              <a:rPr lang="en-IN" sz="1800" dirty="0">
                <a:latin typeface="Century" panose="02040604050505020304" pitchFamily="18" charset="0"/>
              </a:rPr>
              <a:t> that detects increasing financial risk before major financial problems occur, enabling timely preventive decisions. </a:t>
            </a:r>
          </a:p>
          <a:p>
            <a:pPr marL="0" lvl="0" indent="0" algn="just">
              <a:buNone/>
            </a:pPr>
            <a:endParaRPr lang="en-IN" sz="1800" dirty="0">
              <a:latin typeface="Century" panose="02040604050505020304" pitchFamily="18" charset="0"/>
            </a:endParaRPr>
          </a:p>
          <a:p>
            <a:pPr lvl="0" algn="just"/>
            <a:r>
              <a:rPr lang="en-IN" sz="1800" b="1" dirty="0">
                <a:latin typeface="Century" panose="02040604050505020304" pitchFamily="18" charset="0"/>
              </a:rPr>
              <a:t>Hybrid &amp; Integrated Framework:</a:t>
            </a:r>
            <a:r>
              <a:rPr lang="en-IN" sz="1800" dirty="0">
                <a:latin typeface="Century" panose="02040604050505020304" pitchFamily="18" charset="0"/>
              </a:rPr>
              <a:t> Combines </a:t>
            </a:r>
            <a:r>
              <a:rPr lang="en-IN" sz="1800" b="1" dirty="0">
                <a:latin typeface="Century" panose="02040604050505020304" pitchFamily="18" charset="0"/>
              </a:rPr>
              <a:t>multiple ML models, financial indicators, and explainability techniques</a:t>
            </a:r>
            <a:r>
              <a:rPr lang="en-IN" sz="1800" dirty="0">
                <a:latin typeface="Century" panose="02040604050505020304" pitchFamily="18" charset="0"/>
              </a:rPr>
              <a:t> into a unified framework to improve prediction accuracy, transparency, and decision-making compared with traditional financial risk assessment methods.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B1558A1-F46A-EBFC-47FC-C84A21C0A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6805" y="161026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1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1B640EF-AF92-D2CC-4FDB-C630A1C66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87452"/>
            <a:ext cx="8878824" cy="644652"/>
          </a:xfrm>
        </p:spPr>
        <p:txBody>
          <a:bodyPr>
            <a:normAutofit/>
          </a:bodyPr>
          <a:lstStyle/>
          <a:p>
            <a:r>
              <a:rPr lang="en-IN" dirty="0">
                <a:latin typeface="Century" panose="02040604050505020304" pitchFamily="18" charset="0"/>
              </a:rPr>
              <a:t>Innovation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6847" y="788968"/>
            <a:ext cx="8485632" cy="59984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800" b="1" dirty="0">
              <a:latin typeface="Century" panose="02040604050505020304" pitchFamily="18" charset="0"/>
            </a:endParaRPr>
          </a:p>
          <a:p>
            <a:pPr algn="ctr"/>
            <a:r>
              <a:rPr lang="en-IN" sz="1800" dirty="0">
                <a:latin typeface="Century" panose="02040604050505020304" pitchFamily="18" charset="0"/>
              </a:rPr>
              <a:t>Machine Learning Prediction</a:t>
            </a:r>
          </a:p>
          <a:p>
            <a:pPr marL="0" indent="0" algn="ctr">
              <a:buNone/>
            </a:pPr>
            <a:r>
              <a:rPr lang="en-IN" sz="1800" dirty="0">
                <a:latin typeface="Century" panose="02040604050505020304" pitchFamily="18" charset="0"/>
              </a:rPr>
              <a:t> ↓</a:t>
            </a:r>
          </a:p>
          <a:p>
            <a:pPr algn="ctr"/>
            <a:r>
              <a:rPr lang="en-IN" sz="1800" dirty="0">
                <a:latin typeface="Century" panose="02040604050505020304" pitchFamily="18" charset="0"/>
              </a:rPr>
              <a:t>Risk Score</a:t>
            </a:r>
          </a:p>
          <a:p>
            <a:pPr marL="0" indent="0" algn="ctr">
              <a:buNone/>
            </a:pPr>
            <a:r>
              <a:rPr lang="en-IN" sz="1800" dirty="0">
                <a:latin typeface="Century" panose="02040604050505020304" pitchFamily="18" charset="0"/>
              </a:rPr>
              <a:t>↓</a:t>
            </a:r>
          </a:p>
          <a:p>
            <a:pPr algn="ctr"/>
            <a:r>
              <a:rPr lang="en-IN" sz="1800" dirty="0">
                <a:latin typeface="Century" panose="02040604050505020304" pitchFamily="18" charset="0"/>
              </a:rPr>
              <a:t>Risk Classification</a:t>
            </a:r>
          </a:p>
          <a:p>
            <a:pPr marL="0" indent="0" algn="ctr">
              <a:buNone/>
            </a:pPr>
            <a:r>
              <a:rPr lang="en-IN" sz="1800" dirty="0">
                <a:latin typeface="Century" panose="02040604050505020304" pitchFamily="18" charset="0"/>
              </a:rPr>
              <a:t>↓</a:t>
            </a:r>
          </a:p>
          <a:p>
            <a:pPr algn="ctr"/>
            <a:r>
              <a:rPr lang="en-IN" sz="1800" dirty="0">
                <a:latin typeface="Century" panose="02040604050505020304" pitchFamily="18" charset="0"/>
              </a:rPr>
              <a:t>SHAP Explanation</a:t>
            </a:r>
          </a:p>
          <a:p>
            <a:pPr marL="0" indent="0" algn="ctr">
              <a:buNone/>
            </a:pPr>
            <a:r>
              <a:rPr lang="en-IN" sz="1800" dirty="0">
                <a:latin typeface="Century" panose="02040604050505020304" pitchFamily="18" charset="0"/>
              </a:rPr>
              <a:t>↓</a:t>
            </a:r>
          </a:p>
          <a:p>
            <a:pPr algn="ctr"/>
            <a:r>
              <a:rPr lang="en-IN" sz="1800" dirty="0">
                <a:latin typeface="Century" panose="02040604050505020304" pitchFamily="18" charset="0"/>
              </a:rPr>
              <a:t>Early Warning</a:t>
            </a:r>
          </a:p>
          <a:p>
            <a:pPr marL="0" indent="0" algn="ctr">
              <a:buNone/>
            </a:pPr>
            <a:r>
              <a:rPr lang="en-IN" sz="1800" dirty="0">
                <a:latin typeface="Century" panose="02040604050505020304" pitchFamily="18" charset="0"/>
              </a:rPr>
              <a:t>↓</a:t>
            </a:r>
          </a:p>
          <a:p>
            <a:pPr algn="ctr"/>
            <a:r>
              <a:rPr lang="en-IN" sz="1800" dirty="0">
                <a:latin typeface="Century" panose="02040604050505020304" pitchFamily="18" charset="0"/>
              </a:rPr>
              <a:t>Recommended Action</a:t>
            </a:r>
          </a:p>
          <a:p>
            <a:pPr marL="0" indent="0">
              <a:buNone/>
            </a:pPr>
            <a:endParaRPr lang="en-US" sz="1800" dirty="0">
              <a:latin typeface="Century" panose="020406040505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E2AF0B-D7D1-C284-D99A-25ECDED3F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6805" y="161026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73D4-535B-6DCC-2268-43A5E9E12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64" y="182676"/>
            <a:ext cx="8878824" cy="649224"/>
          </a:xfrm>
        </p:spPr>
        <p:txBody>
          <a:bodyPr>
            <a:normAutofit/>
          </a:bodyPr>
          <a:lstStyle/>
          <a:p>
            <a:r>
              <a:rPr lang="en-IN" dirty="0">
                <a:latin typeface="Century" panose="02040604050505020304" pitchFamily="18" charset="0"/>
              </a:rPr>
              <a:t>Feasibility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D6980BD-0225-0DD6-3D62-B0B1E983A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FCA3-0124-0FA6-220B-D72E8F8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12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FDA21A-79E8-394E-1A9A-B8B6AEFA1E0E}"/>
              </a:ext>
            </a:extLst>
          </p:cNvPr>
          <p:cNvSpPr txBox="1"/>
          <p:nvPr/>
        </p:nvSpPr>
        <p:spPr>
          <a:xfrm>
            <a:off x="685064" y="1305341"/>
            <a:ext cx="810003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entury" panose="02040604050505020304" pitchFamily="18" charset="0"/>
              </a:rPr>
              <a:t>Technical Feasibility:</a:t>
            </a:r>
            <a:r>
              <a:rPr lang="en-IN" dirty="0">
                <a:latin typeface="Century" panose="02040604050505020304" pitchFamily="18" charset="0"/>
              </a:rPr>
              <a:t> The system can be developed using Python, Scikit-learn, XGBoost/LightGBM, SHAP, Imbalanced-learn, and </a:t>
            </a:r>
            <a:r>
              <a:rPr lang="en-IN" dirty="0" err="1">
                <a:latin typeface="Century" panose="02040604050505020304" pitchFamily="18" charset="0"/>
              </a:rPr>
              <a:t>Streamlit</a:t>
            </a:r>
            <a:r>
              <a:rPr lang="en-IN" dirty="0">
                <a:latin typeface="Century" panose="02040604050505020304" pitchFamily="18" charset="0"/>
              </a:rPr>
              <a:t>.</a:t>
            </a:r>
          </a:p>
          <a:p>
            <a:pPr lvl="0" algn="just"/>
            <a:endParaRPr lang="en-IN" dirty="0">
              <a:latin typeface="Century" panose="020406040505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entury" panose="02040604050505020304" pitchFamily="18" charset="0"/>
              </a:rPr>
              <a:t>Dataset Feasibility:</a:t>
            </a:r>
            <a:r>
              <a:rPr lang="en-IN" dirty="0">
                <a:latin typeface="Century" panose="02040604050505020304" pitchFamily="18" charset="0"/>
              </a:rPr>
              <a:t> Public financial datasets such as German Credit, Give Me Some Credit, and Lending Club Loan Dataset are available for experimentation.</a:t>
            </a:r>
          </a:p>
          <a:p>
            <a:pPr lvl="0" algn="just"/>
            <a:endParaRPr lang="en-IN" dirty="0">
              <a:latin typeface="Century" panose="020406040505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entury" panose="02040604050505020304" pitchFamily="18" charset="0"/>
              </a:rPr>
              <a:t>Computational Feasibility:</a:t>
            </a:r>
            <a:r>
              <a:rPr lang="en-IN" dirty="0">
                <a:latin typeface="Century" panose="02040604050505020304" pitchFamily="18" charset="0"/>
              </a:rPr>
              <a:t> Ensemble ML models can be trained on normal academic computing systems without requiring expensive deep-learning infrastructure.</a:t>
            </a:r>
          </a:p>
          <a:p>
            <a:pPr lvl="0" algn="just"/>
            <a:endParaRPr lang="en-IN" dirty="0">
              <a:latin typeface="Century" panose="020406040505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Century" panose="02040604050505020304" pitchFamily="18" charset="0"/>
              </a:rPr>
              <a:t>Implementation Feasibility:</a:t>
            </a:r>
            <a:r>
              <a:rPr lang="en-IN" dirty="0">
                <a:latin typeface="Century" panose="02040604050505020304" pitchFamily="18" charset="0"/>
              </a:rPr>
              <a:t> Open-source tools can support data preprocessing, risk prediction, explainability, early warning, and dashboard development.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4B6011-AE87-1B3D-3D58-41DAA8EF7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6805" y="161026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A0FB97-513C-C540-2940-A703D8E0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173736"/>
            <a:ext cx="9628632" cy="448056"/>
          </a:xfrm>
        </p:spPr>
        <p:txBody>
          <a:bodyPr>
            <a:normAutofit fontScale="90000"/>
          </a:bodyPr>
          <a:lstStyle/>
          <a:p>
            <a:r>
              <a:rPr lang="en-IN" sz="3600" b="0" dirty="0">
                <a:latin typeface="Century" panose="02040604050505020304" pitchFamily="18" charset="0"/>
              </a:rPr>
              <a:t>Project Plan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DFA857-DFBF-3EAA-0492-6DAE3FC7C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612" y="471578"/>
            <a:ext cx="10780776" cy="644916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IN" sz="16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en-IN" sz="2600" b="1" dirty="0">
                <a:latin typeface="Century" panose="02040604050505020304" pitchFamily="18" charset="0"/>
              </a:rPr>
              <a:t>Phase 1:</a:t>
            </a:r>
            <a:r>
              <a:rPr lang="en-IN" sz="2600" dirty="0">
                <a:latin typeface="Century" panose="02040604050505020304" pitchFamily="18" charset="0"/>
              </a:rPr>
              <a:t> Literature Survey &amp; Research Gap Identification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dirty="0">
                <a:latin typeface="Century" panose="02040604050505020304" pitchFamily="18" charset="0"/>
              </a:rPr>
              <a:t>     ↓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b="1" dirty="0">
                <a:latin typeface="Century" panose="02040604050505020304" pitchFamily="18" charset="0"/>
              </a:rPr>
              <a:t>Phase 2:</a:t>
            </a:r>
            <a:r>
              <a:rPr lang="en-IN" sz="2600" dirty="0">
                <a:latin typeface="Century" panose="02040604050505020304" pitchFamily="18" charset="0"/>
              </a:rPr>
              <a:t> Dataset Collection &amp; Preprocessing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dirty="0">
                <a:latin typeface="Century" panose="02040604050505020304" pitchFamily="18" charset="0"/>
              </a:rPr>
              <a:t>     ↓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b="1" dirty="0">
                <a:latin typeface="Century" panose="02040604050505020304" pitchFamily="18" charset="0"/>
              </a:rPr>
              <a:t>Phase 3:</a:t>
            </a:r>
            <a:r>
              <a:rPr lang="en-IN" sz="2600" dirty="0">
                <a:latin typeface="Century" panose="02040604050505020304" pitchFamily="18" charset="0"/>
              </a:rPr>
              <a:t> Feature Engineering &amp; Feature Selection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dirty="0">
                <a:latin typeface="Century" panose="02040604050505020304" pitchFamily="18" charset="0"/>
              </a:rPr>
              <a:t>     ↓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b="1" dirty="0">
                <a:latin typeface="Century" panose="02040604050505020304" pitchFamily="18" charset="0"/>
              </a:rPr>
              <a:t>Phase 4:</a:t>
            </a:r>
            <a:r>
              <a:rPr lang="en-IN" sz="2600" dirty="0">
                <a:latin typeface="Century" panose="02040604050505020304" pitchFamily="18" charset="0"/>
              </a:rPr>
              <a:t> Class Imbalance Handling using SMOTE / Class Weights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dirty="0">
                <a:latin typeface="Century" panose="02040604050505020304" pitchFamily="18" charset="0"/>
              </a:rPr>
              <a:t>     ↓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b="1" dirty="0">
                <a:latin typeface="Century" panose="02040604050505020304" pitchFamily="18" charset="0"/>
              </a:rPr>
              <a:t>Phase 5:</a:t>
            </a:r>
            <a:r>
              <a:rPr lang="en-IN" sz="2600" dirty="0">
                <a:latin typeface="Century" panose="02040604050505020304" pitchFamily="18" charset="0"/>
              </a:rPr>
              <a:t> Baseline Model Training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dirty="0">
                <a:latin typeface="Century" panose="02040604050505020304" pitchFamily="18" charset="0"/>
              </a:rPr>
              <a:t>     ↓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b="1" dirty="0">
                <a:latin typeface="Century" panose="02040604050505020304" pitchFamily="18" charset="0"/>
              </a:rPr>
              <a:t>Phase 6:</a:t>
            </a:r>
            <a:r>
              <a:rPr lang="en-IN" sz="2600" dirty="0">
                <a:latin typeface="Century" panose="02040604050505020304" pitchFamily="18" charset="0"/>
              </a:rPr>
              <a:t> Ensemble Model Development using </a:t>
            </a:r>
            <a:r>
              <a:rPr lang="en-IN" sz="2600" dirty="0" err="1">
                <a:latin typeface="Century" panose="02040604050505020304" pitchFamily="18" charset="0"/>
              </a:rPr>
              <a:t>XGBoost</a:t>
            </a:r>
            <a:r>
              <a:rPr lang="en-IN" sz="2600" dirty="0">
                <a:latin typeface="Century" panose="02040604050505020304" pitchFamily="18" charset="0"/>
              </a:rPr>
              <a:t> / </a:t>
            </a:r>
            <a:r>
              <a:rPr lang="en-IN" sz="2600" dirty="0" err="1">
                <a:latin typeface="Century" panose="02040604050505020304" pitchFamily="18" charset="0"/>
              </a:rPr>
              <a:t>LightGBM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dirty="0">
                <a:latin typeface="Century" panose="02040604050505020304" pitchFamily="18" charset="0"/>
              </a:rPr>
              <a:t>     ↓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b="1" dirty="0">
                <a:latin typeface="Century" panose="02040604050505020304" pitchFamily="18" charset="0"/>
              </a:rPr>
              <a:t>Phase 7:</a:t>
            </a:r>
            <a:r>
              <a:rPr lang="en-IN" sz="2600" dirty="0">
                <a:latin typeface="Century" panose="02040604050505020304" pitchFamily="18" charset="0"/>
              </a:rPr>
              <a:t> Model Evaluation &amp; Comparative Analysis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dirty="0">
                <a:latin typeface="Century" panose="02040604050505020304" pitchFamily="18" charset="0"/>
              </a:rPr>
              <a:t>     ↓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b="1" dirty="0">
                <a:latin typeface="Century" panose="02040604050505020304" pitchFamily="18" charset="0"/>
              </a:rPr>
              <a:t>Phase 8:</a:t>
            </a:r>
            <a:r>
              <a:rPr lang="en-IN" sz="2600" dirty="0">
                <a:latin typeface="Century" panose="02040604050505020304" pitchFamily="18" charset="0"/>
              </a:rPr>
              <a:t> SHAP-Based Explainable AI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dirty="0">
                <a:latin typeface="Century" panose="02040604050505020304" pitchFamily="18" charset="0"/>
              </a:rPr>
              <a:t>     ↓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b="1" dirty="0">
                <a:latin typeface="Century" panose="02040604050505020304" pitchFamily="18" charset="0"/>
              </a:rPr>
              <a:t>Phase 9:</a:t>
            </a:r>
            <a:r>
              <a:rPr lang="en-IN" sz="2600" dirty="0">
                <a:latin typeface="Century" panose="02040604050505020304" pitchFamily="18" charset="0"/>
              </a:rPr>
              <a:t> Risk Score &amp; Early-Warning Development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dirty="0">
                <a:latin typeface="Century" panose="02040604050505020304" pitchFamily="18" charset="0"/>
              </a:rPr>
              <a:t>     ↓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b="1" dirty="0">
                <a:latin typeface="Century" panose="02040604050505020304" pitchFamily="18" charset="0"/>
              </a:rPr>
              <a:t>Phase 10:</a:t>
            </a:r>
            <a:r>
              <a:rPr lang="en-IN" sz="2600" dirty="0">
                <a:latin typeface="Century" panose="02040604050505020304" pitchFamily="18" charset="0"/>
              </a:rPr>
              <a:t> Interactive Dashboard Development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dirty="0">
                <a:latin typeface="Century" panose="02040604050505020304" pitchFamily="18" charset="0"/>
              </a:rPr>
              <a:t>     ↓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b="1" dirty="0">
                <a:latin typeface="Century" panose="02040604050505020304" pitchFamily="18" charset="0"/>
              </a:rPr>
              <a:t>Phase 11:</a:t>
            </a:r>
            <a:r>
              <a:rPr lang="en-IN" sz="2600" dirty="0">
                <a:latin typeface="Century" panose="02040604050505020304" pitchFamily="18" charset="0"/>
              </a:rPr>
              <a:t> Testing &amp; Performance Validation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dirty="0">
                <a:latin typeface="Century" panose="02040604050505020304" pitchFamily="18" charset="0"/>
              </a:rPr>
              <a:t>     ↓</a:t>
            </a:r>
            <a:br>
              <a:rPr lang="en-IN" sz="2600" dirty="0">
                <a:latin typeface="Century" panose="02040604050505020304" pitchFamily="18" charset="0"/>
              </a:rPr>
            </a:br>
            <a:r>
              <a:rPr lang="en-IN" sz="2600" b="1" dirty="0">
                <a:latin typeface="Century" panose="02040604050505020304" pitchFamily="18" charset="0"/>
              </a:rPr>
              <a:t>Phase 12:</a:t>
            </a:r>
            <a:r>
              <a:rPr lang="en-IN" sz="2600" dirty="0">
                <a:latin typeface="Century" panose="02040604050505020304" pitchFamily="18" charset="0"/>
              </a:rPr>
              <a:t> Documentation &amp; Final Presentation</a:t>
            </a:r>
          </a:p>
          <a:p>
            <a:endParaRPr lang="en-IN" sz="1200" dirty="0">
              <a:latin typeface="Century" panose="020406040505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A9545F-65FB-9B68-8605-06309596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EC34D0-E0FD-0EA2-5BAE-136AF298E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6805" y="161026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58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152144"/>
            <a:ext cx="4718304" cy="1773936"/>
          </a:xfrm>
        </p:spPr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Century" panose="02040604050505020304" pitchFamily="18" charset="0"/>
              </a:rPr>
              <a:t>THANK YOU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1479" y="2511495"/>
            <a:ext cx="4709160" cy="3035808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tx1"/>
                </a:solidFill>
                <a:latin typeface="Century" panose="02040604050505020304" pitchFamily="18" charset="0"/>
              </a:rPr>
              <a:t>THANK YOU</a:t>
            </a:r>
          </a:p>
          <a:p>
            <a:pPr algn="l"/>
            <a:endParaRPr lang="en-US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78444-95DB-749B-41C0-F388D8430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6805" y="161026"/>
            <a:ext cx="1249788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252</TotalTime>
  <Words>1224</Words>
  <Application>Microsoft Office PowerPoint</Application>
  <PresentationFormat>Widescreen</PresentationFormat>
  <Paragraphs>169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</vt:lpstr>
      <vt:lpstr>Neue Haas Grotesk Text Pro</vt:lpstr>
      <vt:lpstr>Times New Roman</vt:lpstr>
      <vt:lpstr>Helena</vt:lpstr>
      <vt:lpstr>Data Analytics and Visualization (24DSB3101)  An Explainable Machine Learning Framework For Predictive Financial Risk Assessment And Early Warning    </vt:lpstr>
      <vt:lpstr>Contents</vt:lpstr>
      <vt:lpstr>Introduction</vt:lpstr>
      <vt:lpstr>Problem Statement</vt:lpstr>
      <vt:lpstr>Objectives</vt:lpstr>
      <vt:lpstr>Literature Survey</vt:lpstr>
      <vt:lpstr>Literature Survey</vt:lpstr>
      <vt:lpstr>Project Workflow</vt:lpstr>
      <vt:lpstr>Research Gap</vt:lpstr>
      <vt:lpstr>Novelty</vt:lpstr>
      <vt:lpstr>Innovation</vt:lpstr>
      <vt:lpstr>Feasibility</vt:lpstr>
      <vt:lpstr>Project Plan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Pillarisetti Sai Akshitha</dc:creator>
  <cp:lastModifiedBy>Pillarisetti Sai Akshitha</cp:lastModifiedBy>
  <cp:revision>42</cp:revision>
  <dcterms:created xsi:type="dcterms:W3CDTF">2026-08-08T05:30:11Z</dcterms:created>
  <dcterms:modified xsi:type="dcterms:W3CDTF">2026-08-13T13:48:35Z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